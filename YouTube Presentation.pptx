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3E154-E14C-2CA4-A435-E2C09553A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9D836-DEE9-D292-0804-AF1A64915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4351C-3A42-171B-8D28-0B1CA1597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8660-6284-4E1C-846E-BB5C3BB7FF8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98713-9EA3-AE5B-9BA2-C42760207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8C3BF-EA3B-D434-9CDA-84BF2B058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C012C-2A33-41C3-8F4C-14BDC7513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482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AB443-A44B-D999-FB0B-E8D69EFDD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21D2E-3B13-C5F9-9C7A-7228B6800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B502A-7C6C-946A-54D2-F7AC676AA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8660-6284-4E1C-846E-BB5C3BB7FF8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7E488-B347-FEF2-AB5B-98CBA886D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AB750-EA74-58C4-AA6A-4195DCA83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C012C-2A33-41C3-8F4C-14BDC7513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416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8B34C-5E42-A7B0-434E-7E34B4E33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4B56C-0E8C-475B-4580-81BF0791F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E189C-8A3B-C391-1482-081697921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8660-6284-4E1C-846E-BB5C3BB7FF8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468EA-CA41-10DA-EB25-AB7506362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D09F4-53E3-E5AA-D9C9-4B4CC869D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C012C-2A33-41C3-8F4C-14BDC7513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540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9C2CD-3BF2-DCE8-067C-90362D9E6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7801B-547B-FCAD-CE02-0380E7595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340DD1-64CE-2C9E-3619-01174D063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C0721-DB7B-E87E-C857-6D3BD1063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8660-6284-4E1C-846E-BB5C3BB7FF8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033FA-2883-9DA6-AB0A-51FC915C8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D4003-FE16-1690-243F-13CE9542D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C012C-2A33-41C3-8F4C-14BDC7513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74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6FF3-B7EC-21D8-6CD8-D067694E3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39033-FCF7-56DE-E86E-DAD03D22C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13A37-D284-7CB6-62C0-8F11D37A6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BF2311-0D50-7106-52BA-BE2FA0EDA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E39097-5E1F-FFEF-8E13-F3D878979C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056E8A-3766-B276-59E0-AE79FFD46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8660-6284-4E1C-846E-BB5C3BB7FF8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0274C0-4654-1BC0-4AEB-FD2D91E4B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CC5067-5AD8-11A0-90DF-949E10334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C012C-2A33-41C3-8F4C-14BDC7513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848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2B5D9-FC91-9953-0B0B-D24B3857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1CBB8A-02F6-A327-5A1B-7DEF16EF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8660-6284-4E1C-846E-BB5C3BB7FF8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6619C-B0C1-DF11-983F-F47E6016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E0E04-ED24-1F45-A7FB-E4A34F201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C012C-2A33-41C3-8F4C-14BDC7513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065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87C19F-2C31-D10D-7E85-CA4F9DC70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8660-6284-4E1C-846E-BB5C3BB7FF8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79876B-2D03-DA59-DDB1-8D270D03C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54A7D-B5E7-0CFB-ECDB-2649571A3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C012C-2A33-41C3-8F4C-14BDC7513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88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1349C-A4CC-866F-F460-72C147227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157BD-F660-9A66-0098-0E9B654F1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9821F7-B5DD-BD30-0B58-EB7F40428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A2DAF1-308A-47A7-711F-D9CBA37A4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8660-6284-4E1C-846E-BB5C3BB7FF8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CE216-C25E-BFF6-2805-581EFD6C8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67F4F-A06B-DA72-991B-EF53294D7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C012C-2A33-41C3-8F4C-14BDC7513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2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972DD-0F69-F629-0B64-01C809703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35B333-9D49-E15A-0D46-0C44A07813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EB6C5-5338-3058-6334-A6F564DB9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4B138-869E-C5A5-A590-660304595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8660-6284-4E1C-846E-BB5C3BB7FF8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6903C8-9E3B-7787-1CD2-805338EA8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7D774-82BA-98BD-9C8E-5D9148B98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C012C-2A33-41C3-8F4C-14BDC7513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28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B4509-E696-EEA3-C5DE-6A550D7F3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794A0-C015-4806-B9D3-B139A354B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A2DB5-A937-78AC-D9D7-8176FBB92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8660-6284-4E1C-846E-BB5C3BB7FF8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37EAC-814C-0E77-97D2-F8315CFAC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2D892-9FCB-63B6-EFBA-D568BBECD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C012C-2A33-41C3-8F4C-14BDC7513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638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5E1FB4-2DC2-8CC1-9789-28512C0A76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D68B8-A4EB-5242-4D7E-F175461C5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D9DBE-70DF-65CF-989D-6D433AB3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8660-6284-4E1C-846E-BB5C3BB7FF8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A5821-ACC5-B0F4-5E52-DAE6E7502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60D0C-5F34-C7B9-32EC-DB421299A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C012C-2A33-41C3-8F4C-14BDC7513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869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0300CF-3C89-E1C2-31CB-EF5F2DB17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C99B6-BC4B-1EDF-5C03-E2C4B9A30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BE047-F250-D0EB-FD19-0304825DF2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328660-6284-4E1C-846E-BB5C3BB7FF8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F665C-CA19-3684-829E-E9E1A0288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C11ED-27F3-CBC0-D2EC-C2CBEC9FC8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7C012C-2A33-41C3-8F4C-14BDC7513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99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hyperlink" Target="https://github.com/jeanlouisvanbell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643FC1-5B20-72B5-0FF8-E16E2158199A}"/>
              </a:ext>
            </a:extLst>
          </p:cNvPr>
          <p:cNvSpPr txBox="1"/>
          <p:nvPr/>
        </p:nvSpPr>
        <p:spPr>
          <a:xfrm>
            <a:off x="699714" y="5490971"/>
            <a:ext cx="6962072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Beyond Flatland: Why the Electron Model Fails for the Proton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A5659D-B7D8-BA96-1F82-295CB07C2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97" y="390832"/>
            <a:ext cx="10824224" cy="4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22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90E211-83FE-0497-5748-42E13047B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-412684"/>
            <a:ext cx="12191998" cy="591312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84768A-2D70-FB82-D06E-A3374750B8A2}"/>
                  </a:ext>
                </a:extLst>
              </p:cNvPr>
              <p:cNvSpPr txBox="1"/>
              <p:nvPr/>
            </p:nvSpPr>
            <p:spPr>
              <a:xfrm>
                <a:off x="699714" y="5490971"/>
                <a:ext cx="6962072" cy="11592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sz="3700" kern="1200" noProof="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Bounded, Non-Closing Flows &amp; The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700" i="1" kern="1200" noProof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radPr>
                      <m:deg/>
                      <m:e>
                        <m:r>
                          <a:rPr lang="en-US" sz="3700" i="1" kern="1200" noProof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3700" kern="1200" noProof="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 Coupling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84768A-2D70-FB82-D06E-A3374750B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714" y="5490971"/>
                <a:ext cx="6962072" cy="1159200"/>
              </a:xfrm>
              <a:prstGeom prst="rect">
                <a:avLst/>
              </a:prstGeom>
              <a:blipFill>
                <a:blip r:embed="rId3"/>
                <a:stretch>
                  <a:fillRect l="-2802" t="-12632" r="-2890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7451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7C7C42-2E15-1845-D376-50B9D5DCA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69F681-B4FF-C722-B7D3-E7EA44E36E5F}"/>
                  </a:ext>
                </a:extLst>
              </p:cNvPr>
              <p:cNvSpPr txBox="1"/>
              <p:nvPr/>
            </p:nvSpPr>
            <p:spPr>
              <a:xfrm>
                <a:off x="699714" y="5490971"/>
                <a:ext cx="6962072" cy="11592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sz="4000" b="1" kern="1200" noProof="0" dirty="0">
                    <a:solidFill>
                      <a:srgbClr val="FFFFFF"/>
                    </a:solidFill>
                    <a:effectLst/>
                    <a:latin typeface="+mj-lt"/>
                    <a:ea typeface="+mj-ea"/>
                    <a:cs typeface="+mj-cs"/>
                  </a:rPr>
                  <a:t>Reconciling </a:t>
                </a:r>
                <a14:m>
                  <m:oMath xmlns:m="http://schemas.openxmlformats.org/officeDocument/2006/math">
                    <m:r>
                      <a:rPr lang="en-US" sz="4000" i="1" kern="1200" noProof="0">
                        <a:solidFill>
                          <a:srgbClr val="FFFFFF"/>
                        </a:solidFill>
                        <a:effectLst/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𝑣</m:t>
                    </m:r>
                    <m:r>
                      <a:rPr lang="en-US" sz="4000" i="1" kern="1200" noProof="0">
                        <a:solidFill>
                          <a:srgbClr val="FFFFFF"/>
                        </a:solidFill>
                        <a:effectLst/>
                        <a:latin typeface="Cambria Math" panose="02040503050406030204" pitchFamily="18" charset="0"/>
                        <a:ea typeface="+mj-ea"/>
                        <a:cs typeface="+mj-cs"/>
                      </a:rPr>
                      <m:t>=</m:t>
                    </m:r>
                    <m:r>
                      <a:rPr lang="en-US" sz="4000" i="1" kern="1200" noProof="0">
                        <a:solidFill>
                          <a:srgbClr val="FFFFFF"/>
                        </a:solidFill>
                        <a:effectLst/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𝑐</m:t>
                    </m:r>
                  </m:oMath>
                </a14:m>
                <a:r>
                  <a:rPr lang="en-US" sz="4000" b="1" kern="1200" noProof="0" dirty="0">
                    <a:solidFill>
                      <a:srgbClr val="FFFFFF"/>
                    </a:solidFill>
                    <a:effectLst/>
                    <a:latin typeface="+mj-lt"/>
                    <a:ea typeface="+mj-ea"/>
                    <a:cs typeface="+mj-cs"/>
                  </a:rPr>
                  <a:t> Globally</a:t>
                </a:r>
                <a:endParaRPr lang="en-US" sz="4000" kern="1200" noProof="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69F681-B4FF-C722-B7D3-E7EA44E36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714" y="5490971"/>
                <a:ext cx="6962072" cy="1159200"/>
              </a:xfrm>
              <a:prstGeom prst="rect">
                <a:avLst/>
              </a:prstGeom>
              <a:blipFill>
                <a:blip r:embed="rId2"/>
                <a:stretch>
                  <a:fillRect l="-3152" b="-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90022AA-361B-4B83-36D0-F6CC65B01196}"/>
                  </a:ext>
                </a:extLst>
              </p:cNvPr>
              <p:cNvSpPr txBox="1"/>
              <p:nvPr/>
            </p:nvSpPr>
            <p:spPr>
              <a:xfrm>
                <a:off x="8456522" y="5633765"/>
                <a:ext cx="3408555" cy="87361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ts val="1000"/>
                  </a:spcBef>
                  <a:spcAft>
                    <a:spcPts val="600"/>
                  </a:spcAft>
                </a:pPr>
                <a:r>
                  <a:rPr lang="en-US" sz="2000" kern="1200" noProof="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Bounded, Non-Closing Flows &amp; The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 kern="1200" noProof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/>
                      <m:e>
                        <m:r>
                          <a:rPr lang="en-US" sz="2000" i="1" kern="1200" noProof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000" kern="1200" noProof="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 Coupling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90022AA-361B-4B83-36D0-F6CC65B01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6522" y="5633765"/>
                <a:ext cx="3408555" cy="873612"/>
              </a:xfrm>
              <a:prstGeom prst="rect">
                <a:avLst/>
              </a:prstGeom>
              <a:blipFill>
                <a:blip r:embed="rId3"/>
                <a:stretch>
                  <a:fillRect l="-1789" r="-2504" b="-1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58896A56-6A92-B63A-9A9C-44B5F464D2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70418" y="-15086"/>
            <a:ext cx="10885714" cy="52727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7C0974-08E3-16AA-34B0-9E44E618E5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460" y="1315275"/>
            <a:ext cx="4169672" cy="295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672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1789D7-E0FB-3726-E39E-7B4A4C6F5CB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26441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marR="0" lvl="0" indent="-34290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  <a:tabLst>
                    <a:tab pos="457200" algn="l"/>
                  </a:tabLst>
                </a:pPr>
                <a:r>
                  <a:rPr lang="en-US" sz="1400" b="1" kern="100" noProof="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Invariant Anchor (</a:t>
                </a:r>
                <a14:m>
                  <m:oMath xmlns:m="http://schemas.openxmlformats.org/officeDocument/2006/math">
                    <m:r>
                      <a:rPr lang="en-US" sz="1400" i="1" kern="100" noProof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𝐸</m:t>
                    </m:r>
                    <m:r>
                      <a:rPr lang="en-US" sz="1400" i="1" kern="100" noProof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=ℏ</m:t>
                    </m:r>
                    <m:r>
                      <m:rPr>
                        <m:sty m:val="p"/>
                      </m:rPr>
                      <a:rPr lang="en-US" sz="1400" kern="100" noProof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Ω</m:t>
                    </m:r>
                  </m:oMath>
                </a14:m>
                <a:r>
                  <a:rPr lang="en-US" sz="1400" b="1" kern="100" noProof="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n-US" sz="1400" kern="100" noProof="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 At rest, the total mass-energy of the proton is locked into its global internal frequency,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kern="100" noProof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Ω</m:t>
                    </m:r>
                    <m:r>
                      <a:rPr lang="en-US" sz="1400" i="1" kern="100" noProof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400" i="1" kern="100" noProof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1400" i="1" kern="100" noProof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3</m:t>
                        </m:r>
                      </m:e>
                    </m:rad>
                    <m:sSub>
                      <m:sSubPr>
                        <m:ctrlPr>
                          <a:rPr lang="en-US" sz="1400" i="1" kern="100" noProof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400" i="1" kern="100" noProof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𝜔</m:t>
                        </m:r>
                      </m:e>
                      <m:sub>
                        <m:r>
                          <a:rPr lang="en-US" sz="1400" i="1" kern="100" noProof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kern="100" noProof="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 This invariant combines your orthogonal polar and azimuthal modes quadratically.</a:t>
                </a:r>
              </a:p>
              <a:p>
                <a:pPr marL="342900" marR="0" lvl="0" indent="-34290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  <a:tabLst>
                    <a:tab pos="457200" algn="l"/>
                  </a:tabLst>
                </a:pPr>
                <a:r>
                  <a:rPr lang="en-US" sz="1400" b="1" kern="100" noProof="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Translational Shift (</a:t>
                </a:r>
                <a14:m>
                  <m:oMath xmlns:m="http://schemas.openxmlformats.org/officeDocument/2006/math">
                    <m:r>
                      <a:rPr lang="en-US" sz="1400" i="1" kern="100" noProof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𝑝</m:t>
                    </m:r>
                    <m:r>
                      <a:rPr lang="en-US" sz="1400" i="1" kern="100" noProof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=ℏ</m:t>
                    </m:r>
                    <m:r>
                      <a:rPr lang="en-US" sz="1400" i="1" kern="100" noProof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𝑘</m:t>
                    </m:r>
                  </m:oMath>
                </a14:m>
                <a:r>
                  <a:rPr lang="en-US" sz="1400" b="1" kern="100" noProof="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n-US" sz="1400" kern="100" noProof="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 When the particle begins to move linearly relative to an observer, the internal 3D spherical envelope elongates into a ellipsoidal helix along the axis of translation (</a:t>
                </a:r>
                <a14:m>
                  <m:oMath xmlns:m="http://schemas.openxmlformats.org/officeDocument/2006/math">
                    <m:r>
                      <a:rPr lang="en-US" sz="1400" i="1" kern="100" noProof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𝑘</m:t>
                    </m:r>
                  </m:oMath>
                </a14:m>
                <a:r>
                  <a:rPr lang="en-US" sz="1400" kern="100" noProof="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 marL="342900" marR="0" lvl="0" indent="-34290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  <a:tabLst>
                    <a:tab pos="457200" algn="l"/>
                  </a:tabLst>
                </a:pPr>
                <a:r>
                  <a:rPr lang="en-US" sz="1400" b="1" kern="100" noProof="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Phase Modulation</a:t>
                </a:r>
                <a:r>
                  <a:rPr lang="en-US" sz="1400" kern="100" noProof="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 The global propagation operator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 kern="100" noProof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400" i="1" kern="100" noProof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lang="en-US" sz="1400" kern="100" noProof="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acts on the translation axis. The internal high-frequency rotations (</a:t>
                </a:r>
                <a14:m>
                  <m:oMath xmlns:m="http://schemas.openxmlformats.org/officeDocument/2006/math">
                    <m:r>
                      <a:rPr lang="en-US" sz="1400" i="1" kern="100" noProof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≈</m:t>
                    </m:r>
                    <m:sSup>
                      <m:sSupPr>
                        <m:ctrlPr>
                          <a:rPr lang="en-US" sz="1400" i="1" kern="100" noProof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400" i="1" kern="100" noProof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10</m:t>
                        </m:r>
                      </m:e>
                      <m:sup>
                        <m:r>
                          <a:rPr lang="en-US" sz="1400" i="1" kern="100" noProof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24</m:t>
                        </m:r>
                      </m:sup>
                    </m:sSup>
                  </m:oMath>
                </a14:m>
                <a:r>
                  <a:rPr lang="en-US" sz="1400" kern="100" noProof="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 serve as the underlying clock. When this clock is Doppler-shifted by linear movement, it naturally synthesizes the de Broglie wavelength (</a:t>
                </a:r>
                <a14:m>
                  <m:oMath xmlns:m="http://schemas.openxmlformats.org/officeDocument/2006/math">
                    <m:r>
                      <a:rPr lang="en-US" sz="1400" i="1" kern="100" noProof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𝜆</m:t>
                    </m:r>
                    <m:r>
                      <a:rPr lang="en-US" sz="1400" i="1" kern="100" noProof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400" i="1" kern="100" noProof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h</m:t>
                    </m:r>
                    <m:r>
                      <a:rPr lang="en-US" sz="1400" i="1" kern="100" noProof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/</m:t>
                    </m:r>
                    <m:r>
                      <a:rPr lang="en-US" sz="1400" i="1" kern="100" noProof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𝑝</m:t>
                    </m:r>
                  </m:oMath>
                </a14:m>
                <a:r>
                  <a:rPr lang="en-US" sz="1400" kern="100" noProof="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 as a macroscopic phase beat pattern.</a:t>
                </a: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i="1" kern="100" noProof="0" dirty="0">
                    <a:solidFill>
                      <a:schemeClr val="tx2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particle doesn't have an abstract wave function</a:t>
                </a:r>
                <a:r>
                  <a:rPr lang="en-US" b="1" kern="100" noProof="0" dirty="0">
                    <a:solidFill>
                      <a:schemeClr val="tx2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; </a:t>
                </a: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noProof="0" dirty="0">
                    <a:solidFill>
                      <a:schemeClr val="tx2"/>
                    </a:solidFill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	  </a:t>
                </a:r>
                <a:r>
                  <a:rPr lang="en-US" b="1" kern="100" noProof="0" dirty="0">
                    <a:solidFill>
                      <a:schemeClr val="tx2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wave function is the literal spacetime trace of its internal clock traveling through space.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1789D7-E0FB-3726-E39E-7B4A4C6F5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2644185"/>
              </a:xfrm>
              <a:prstGeom prst="rect">
                <a:avLst/>
              </a:prstGeom>
              <a:blipFill>
                <a:blip r:embed="rId2"/>
                <a:stretch>
                  <a:fillRect l="-400" r="-150" b="-2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392953AC-4E54-0048-8405-96B5C372D3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65480"/>
            <a:ext cx="9102048" cy="37925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5F2135-11F6-3469-4213-1DD0472245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388" y="3813404"/>
            <a:ext cx="3340612" cy="229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530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235769-D941-DB80-EB1F-A9634F2D9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" r="31260" b="-1"/>
          <a:stretch>
            <a:fillRect/>
          </a:stretch>
        </p:blipFill>
        <p:spPr>
          <a:xfrm>
            <a:off x="1684158" y="185067"/>
            <a:ext cx="966964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C7C9E5-F28F-BC8B-EA8B-57895BD0C064}"/>
              </a:ext>
            </a:extLst>
          </p:cNvPr>
          <p:cNvSpPr txBox="1"/>
          <p:nvPr/>
        </p:nvSpPr>
        <p:spPr>
          <a:xfrm>
            <a:off x="838200" y="365125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noProof="0">
                <a:latin typeface="+mj-lt"/>
                <a:ea typeface="+mj-ea"/>
                <a:cs typeface="+mj-cs"/>
              </a:rPr>
              <a:t>The Non-Radiating Condition: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noProof="0">
                <a:latin typeface="+mj-lt"/>
                <a:ea typeface="+mj-ea"/>
                <a:cs typeface="+mj-cs"/>
              </a:rPr>
              <a:t>Closed Field Re-entry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BC31FD-0686-4D4C-E127-757AE4A4BA9B}"/>
              </a:ext>
            </a:extLst>
          </p:cNvPr>
          <p:cNvSpPr txBox="1"/>
          <p:nvPr/>
        </p:nvSpPr>
        <p:spPr>
          <a:xfrm>
            <a:off x="83820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742950" marR="0" lvl="1" indent="-2286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700" b="1" noProof="0">
                <a:effectLst/>
              </a:rPr>
              <a:t>No Path Repetition</a:t>
            </a:r>
            <a:r>
              <a:rPr lang="en-US" sz="1700" noProof="0">
                <a:effectLst/>
              </a:rPr>
              <a:t>: Bounded irrational flow sweeps the entire spherical boundary.</a:t>
            </a:r>
          </a:p>
          <a:p>
            <a:pPr marL="742950" marR="0" lvl="1" indent="-2286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700" b="1" noProof="0">
                <a:effectLst/>
              </a:rPr>
              <a:t>Field Retention</a:t>
            </a:r>
            <a:r>
              <a:rPr lang="en-US" sz="1700" noProof="0">
                <a:effectLst/>
              </a:rPr>
              <a:t>: Local fields never gain the distance needed to detach as radiation waves.</a:t>
            </a:r>
          </a:p>
          <a:p>
            <a:pPr marL="742950" marR="0" lvl="1" indent="-2286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700" b="1" noProof="0">
                <a:effectLst/>
              </a:rPr>
              <a:t>Dynamic Feedback</a:t>
            </a:r>
            <a:r>
              <a:rPr lang="en-US" sz="1700" noProof="0">
                <a:effectLst/>
              </a:rPr>
              <a:t>: Self-generated forces continuously drive the point charge along its trajectory.</a:t>
            </a:r>
          </a:p>
          <a:p>
            <a:pPr marL="742950" marR="0" lvl="1" indent="-2286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700" b="1" noProof="0">
                <a:effectLst/>
              </a:rPr>
              <a:t>Perfect Conservation</a:t>
            </a:r>
            <a:r>
              <a:rPr lang="en-US" sz="1700" noProof="0">
                <a:effectLst/>
              </a:rPr>
              <a:t>: Potential stress and kinetic circulation form a locked equilibrium.</a:t>
            </a:r>
          </a:p>
        </p:txBody>
      </p:sp>
    </p:spTree>
    <p:extLst>
      <p:ext uri="{BB962C8B-B14F-4D97-AF65-F5344CB8AC3E}">
        <p14:creationId xmlns:p14="http://schemas.microsoft.com/office/powerpoint/2010/main" val="2095995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2A2ED3-79D2-AE1A-678D-24E5AAFD1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6367"/>
            <a:ext cx="12192000" cy="43852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6EB596-52B4-EA1E-436F-A4B7B94AFFB7}"/>
              </a:ext>
            </a:extLst>
          </p:cNvPr>
          <p:cNvSpPr txBox="1"/>
          <p:nvPr/>
        </p:nvSpPr>
        <p:spPr>
          <a:xfrm>
            <a:off x="3737341" y="435428"/>
            <a:ext cx="4766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0" dirty="0">
                <a:solidFill>
                  <a:schemeClr val="tx2"/>
                </a:solidFill>
              </a:rPr>
              <a:t>The Hard Numbers for the Proton</a:t>
            </a:r>
          </a:p>
        </p:txBody>
      </p:sp>
    </p:spTree>
    <p:extLst>
      <p:ext uri="{BB962C8B-B14F-4D97-AF65-F5344CB8AC3E}">
        <p14:creationId xmlns:p14="http://schemas.microsoft.com/office/powerpoint/2010/main" val="1086691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EAF25A-B20B-AFFB-03D0-43CB52C2F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94344" y="952500"/>
            <a:ext cx="12192000" cy="5905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D34461-CF78-9444-721C-B462F4C81BBE}"/>
              </a:ext>
            </a:extLst>
          </p:cNvPr>
          <p:cNvSpPr txBox="1"/>
          <p:nvPr/>
        </p:nvSpPr>
        <p:spPr>
          <a:xfrm>
            <a:off x="2464981" y="171525"/>
            <a:ext cx="72620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noProof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Neutron Conversion (Phase Mismatch Decay)</a:t>
            </a:r>
            <a:endParaRPr lang="en-US" sz="2400" noProof="0" dirty="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0D9C6D-019A-BAA5-CCB5-89520F072B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912" y="3637368"/>
            <a:ext cx="4279400" cy="29077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D08ACD-841B-BAEE-B410-6B71B93F0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496" y="1087409"/>
            <a:ext cx="4178816" cy="295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394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CAE0D5-9ED2-47FF-D067-0C06550A6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0947"/>
            <a:ext cx="12140405" cy="57270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79F2DD-0F78-7723-986B-E963B5E91EF4}"/>
              </a:ext>
            </a:extLst>
          </p:cNvPr>
          <p:cNvSpPr txBox="1"/>
          <p:nvPr/>
        </p:nvSpPr>
        <p:spPr>
          <a:xfrm>
            <a:off x="2656543" y="307838"/>
            <a:ext cx="6827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0" dirty="0">
                <a:solidFill>
                  <a:schemeClr val="tx2"/>
                </a:solidFill>
              </a:rPr>
              <a:t>Magnetic Moment: Proton-Neutron Comparison</a:t>
            </a:r>
          </a:p>
        </p:txBody>
      </p:sp>
    </p:spTree>
    <p:extLst>
      <p:ext uri="{BB962C8B-B14F-4D97-AF65-F5344CB8AC3E}">
        <p14:creationId xmlns:p14="http://schemas.microsoft.com/office/powerpoint/2010/main" val="2629652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F2864A-9746-9A1D-1BB7-8293752EDF7A}"/>
              </a:ext>
            </a:extLst>
          </p:cNvPr>
          <p:cNvSpPr txBox="1"/>
          <p:nvPr/>
        </p:nvSpPr>
        <p:spPr>
          <a:xfrm>
            <a:off x="3652959" y="275940"/>
            <a:ext cx="48860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Energy Conservation and 3D Math</a:t>
            </a:r>
            <a:endParaRPr lang="en-US" sz="2400" b="1" noProof="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55E0AE-6ACB-C28B-753C-0C1D8CC78294}"/>
                  </a:ext>
                </a:extLst>
              </p:cNvPr>
              <p:cNvSpPr txBox="1"/>
              <p:nvPr/>
            </p:nvSpPr>
            <p:spPr>
              <a:xfrm>
                <a:off x="435934" y="1031536"/>
                <a:ext cx="11440633" cy="47666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When transitioning to a 3D model with </a:t>
                </a:r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irrational frequency coupling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𝜔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</m:rad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𝜔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), applying the equipartition theorem directly requires careful accounting:</a:t>
                </a:r>
              </a:p>
              <a:p>
                <a:pPr marL="342900" marR="0" lvl="0" indent="-34290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  <a:tabLst>
                    <a:tab pos="457200" algn="l"/>
                  </a:tabLst>
                </a:pPr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Modal Split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 If you examine the two orthogonal planes independently, they act as coupled degrees of freedom. Each holds an energy associated with its specific rotational velocity profile.</a:t>
                </a:r>
              </a:p>
              <a:p>
                <a:pPr marL="342900" marR="0" lvl="0" indent="-34290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  <a:tabLst>
                    <a:tab pos="457200" algn="l"/>
                  </a:tabLst>
                </a:pPr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Quadratic Conservation Rule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 Because the modes are </a:t>
                </a:r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orthogonal components of a single bounded system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(rather than two isolated particles), their energies do not add up linearly (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𝐸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≠ℏ</m:t>
                    </m:r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𝜔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+ℏ</m:t>
                    </m:r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𝜔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). Instead, they obey a Pythagorean vector composition:</a:t>
                </a:r>
                <a:b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800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Ω</m:t>
                        </m:r>
                      </m:e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sSubSup>
                      <m:sSub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𝜔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bSup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+</m:t>
                    </m:r>
                    <m:sSubSup>
                      <m:sSub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𝜔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bSup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⟹</m:t>
                    </m:r>
                    <m:sSup>
                      <m:s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800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Ω</m:t>
                        </m:r>
                      </m:e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sSubSup>
                      <m:sSub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𝜔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bSup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+2</m:t>
                    </m:r>
                    <m:sSubSup>
                      <m:sSub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𝜔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bSup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=3</m:t>
                    </m:r>
                    <m:sSubSup>
                      <m:sSub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𝜔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bSup>
                  </m:oMath>
                </a14:m>
                <a:br>
                  <a:rPr lang="en-US" sz="1800" kern="100" dirty="0">
                    <a:effectLst/>
                    <a:latin typeface="Cambria Math" panose="020405030504060302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𝐸</m:t>
                        </m:r>
                      </m:e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sSubSup>
                      <m:sSub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𝐸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bSup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+</m:t>
                    </m:r>
                    <m:sSubSup>
                      <m:sSub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𝐸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1800" kern="100" dirty="0">
                  <a:effectLst/>
                  <a:latin typeface="Calibri" panose="020F050202020403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285750" marR="0" indent="-285750">
                  <a:lnSpc>
                    <a:spcPct val="115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This means </a:t>
                </a:r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equipartition does not mean equal linear energy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𝐸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≠</m:t>
                    </m:r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𝐸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). </a:t>
                </a:r>
              </a:p>
              <a:p>
                <a:pPr marL="285750" marR="0" indent="-285750">
                  <a:lnSpc>
                    <a:spcPct val="115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Rather, it means that the </a:t>
                </a:r>
                <a:r>
                  <a:rPr lang="en-US" sz="1800" i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degrees of freedom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partition the global invariant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Ω</m:t>
                    </m:r>
                  </m:oMath>
                </a14:m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such that the azimuthal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𝑗</m:t>
                    </m:r>
                  </m:oMath>
                </a14:m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-mode handles exactly twice the structural acceleration load of the polar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-mode. </a:t>
                </a:r>
              </a:p>
              <a:p>
                <a:pPr marL="285750" marR="0" indent="-285750">
                  <a:lnSpc>
                    <a:spcPct val="115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This is the exact constraint needed to maintain a constant local velocity of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𝑣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𝑐</m:t>
                    </m:r>
                  </m:oMath>
                </a14:m>
                <a:r>
                  <a:rPr lang="en-US" sz="18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across the entire sphere.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55E0AE-6ACB-C28B-753C-0C1D8CC78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34" y="1031536"/>
                <a:ext cx="11440633" cy="4766626"/>
              </a:xfrm>
              <a:prstGeom prst="rect">
                <a:avLst/>
              </a:prstGeom>
              <a:blipFill>
                <a:blip r:embed="rId2"/>
                <a:stretch>
                  <a:fillRect l="-480" b="-1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1100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193E81-36CB-13B2-4ACD-3A936691FE8E}"/>
              </a:ext>
            </a:extLst>
          </p:cNvPr>
          <p:cNvSpPr txBox="1"/>
          <p:nvPr/>
        </p:nvSpPr>
        <p:spPr>
          <a:xfrm>
            <a:off x="4426600" y="318470"/>
            <a:ext cx="3338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3D Wavefunction Math</a:t>
            </a:r>
            <a:endParaRPr lang="en-US" sz="2400" b="1" noProof="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47A1E1-6547-176B-F7A9-10EC99360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0136"/>
            <a:ext cx="12192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818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6036C4-3C29-D551-A522-1251F1471972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Quaternion Wavefunction: Imaginary Units as Rotation Operators</a:t>
            </a:r>
            <a:endParaRPr lang="en-US" sz="2700" b="1" kern="1200" noProof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F83C4D-89AA-BB4A-BBF4-ADC89194E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8173"/>
            <a:ext cx="12198176" cy="429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98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4F4FDF-8411-3D5C-5617-6DBF9340EE22}"/>
                  </a:ext>
                </a:extLst>
              </p:cNvPr>
              <p:cNvSpPr txBox="1"/>
              <p:nvPr/>
            </p:nvSpPr>
            <p:spPr>
              <a:xfrm>
                <a:off x="40758" y="1414130"/>
                <a:ext cx="12110484" cy="47546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To bridge the gap between internal quaternion operations (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𝑞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𝜃</m:t>
                        </m:r>
                      </m:sup>
                    </m:sSup>
                    <m:sSup>
                      <m:sSup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𝑗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𝜙</m:t>
                        </m:r>
                      </m:sup>
                    </m:sSup>
                  </m:oMath>
                </a14:m>
                <a:r>
                  <a:rPr lang="en-US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 and the real-world measurements recorded by experimental physicists, we must project the 4D quaternion space down into 3D Cartesian coordinates (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𝑧</m:t>
                    </m:r>
                  </m:oMath>
                </a14:m>
                <a:r>
                  <a:rPr lang="en-US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1. The Pure Vector Representation of a Point Charge</a:t>
                </a:r>
                <a:endParaRPr lang="en-US" kern="100" dirty="0">
                  <a:effectLst/>
                  <a:latin typeface="Calibri" panose="020F050202020403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A unit quaternion can be split into its scalar part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𝑞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 and its vector part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𝑞</m:t>
                        </m:r>
                      </m:e>
                    </m:acc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𝑞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𝑞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𝑗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𝑞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𝑘</m:t>
                    </m:r>
                  </m:oMath>
                </a14:m>
                <a:r>
                  <a:rPr lang="en-US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). To rotate a physical position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𝑖𝑛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𝑦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inside your particle shell, </a:t>
                </a:r>
                <a:r>
                  <a:rPr lang="en-US" kern="100" dirty="0"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we a</a:t>
                </a:r>
                <a:r>
                  <a:rPr lang="en-US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pply a sandwich product using the quaternion and its conjugate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𝑞</m:t>
                        </m:r>
                      </m:e>
                      <m:sup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):</a:t>
                </a: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br>
                  <a:rPr lang="en-US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𝑜𝑢𝑡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𝑞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𝑖𝑛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⋅</m:t>
                      </m:r>
                      <m:sSup>
                        <m:sSupPr>
                          <m:ctrlP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𝑞</m:t>
                          </m:r>
                        </m:e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kern="100" dirty="0">
                  <a:effectLst/>
                  <a:latin typeface="Calibri" panose="020F050202020403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2. The Rotation Matrix Explicit Mapping</a:t>
                </a:r>
                <a:endParaRPr lang="en-US" kern="100" dirty="0">
                  <a:effectLst/>
                  <a:latin typeface="Calibri" panose="020F050202020403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Expanding this product into a standard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3×3</m:t>
                    </m:r>
                  </m:oMath>
                </a14:m>
                <a:r>
                  <a:rPr lang="en-US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Cartesian projection matrix yields the spatial coordinates of the3D current:</a:t>
                </a: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𝑅</m:t>
                      </m:r>
                      <m:d>
                        <m:dPr>
                          <m:ctrlP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𝑞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1−2</m:t>
                                </m:r>
                                <m:d>
                                  <m:dPr>
                                    <m:ctrlP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1−2</m:t>
                                </m:r>
                                <m:d>
                                  <m:dPr>
                                    <m:ctrlP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1−2</m:t>
                                </m:r>
                                <m:d>
                                  <m:dPr>
                                    <m:ctrlP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kern="100" dirty="0">
                  <a:effectLst/>
                  <a:latin typeface="Calibri" panose="020F050202020403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4F4FDF-8411-3D5C-5617-6DBF9340E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58" y="1414130"/>
                <a:ext cx="12110484" cy="4754635"/>
              </a:xfrm>
              <a:prstGeom prst="rect">
                <a:avLst/>
              </a:prstGeom>
              <a:blipFill>
                <a:blip r:embed="rId2"/>
                <a:stretch>
                  <a:fillRect l="-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7BFD217-19A1-84E9-7677-68898C28E26E}"/>
              </a:ext>
            </a:extLst>
          </p:cNvPr>
          <p:cNvSpPr txBox="1"/>
          <p:nvPr/>
        </p:nvSpPr>
        <p:spPr>
          <a:xfrm>
            <a:off x="2209134" y="458402"/>
            <a:ext cx="7773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From Quaternion Math back to Cartesian Math (slide 1)</a:t>
            </a:r>
            <a:endParaRPr lang="en-US" sz="2400" b="1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592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770079-09E3-0E6E-6738-0BF456C22451}"/>
                  </a:ext>
                </a:extLst>
              </p:cNvPr>
              <p:cNvSpPr txBox="1"/>
              <p:nvPr/>
            </p:nvSpPr>
            <p:spPr>
              <a:xfrm>
                <a:off x="0" y="1025057"/>
                <a:ext cx="12191999" cy="5832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b="1" kern="100" dirty="0"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3. Connecting Internal Frequencies to the Matrix Output</a:t>
                </a:r>
                <a:endParaRPr lang="en-US" kern="100" dirty="0">
                  <a:latin typeface="Calibri" panose="020F050202020403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kern="100" dirty="0"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Substituting the phase-locked frequencies into the quaternion components, the projection matrix becomes:</a:t>
                </a:r>
              </a:p>
              <a:p>
                <a:pPr marL="342900" marR="0" lvl="0" indent="-342900">
                  <a:lnSpc>
                    <a:spcPct val="115000"/>
                  </a:lnSpc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𝑞</m:t>
                        </m:r>
                      </m:e>
                      <m:sub>
                        <m:r>
                          <a:rPr lang="en-US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func>
                      <m:funcPr>
                        <m:ctrlPr>
                          <a:rPr lang="en-US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func>
                      <m:funcPr>
                        <m:ctrlPr>
                          <a:rPr lang="en-US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kern="100" dirty="0">
                  <a:latin typeface="Calibri" panose="020F050202020403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>
                  <a:lnSpc>
                    <a:spcPct val="115000"/>
                  </a:lnSpc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𝑞</m:t>
                        </m:r>
                      </m:e>
                      <m:sub>
                        <m:r>
                          <a:rPr lang="en-US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func>
                      <m:funcPr>
                        <m:ctrlPr>
                          <a:rPr lang="en-US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func>
                      <m:funcPr>
                        <m:ctrlPr>
                          <a:rPr lang="en-US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kern="100" dirty="0">
                  <a:latin typeface="Calibri" panose="020F050202020403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>
                  <a:lnSpc>
                    <a:spcPct val="115000"/>
                  </a:lnSpc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𝑞</m:t>
                        </m:r>
                      </m:e>
                      <m:sub>
                        <m:r>
                          <a:rPr lang="en-US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func>
                      <m:funcPr>
                        <m:ctrlPr>
                          <a:rPr lang="en-US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func>
                      <m:funcPr>
                        <m:ctrlPr>
                          <a:rPr lang="en-US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kern="100" dirty="0">
                  <a:latin typeface="Calibri" panose="020F050202020403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𝑞</m:t>
                        </m:r>
                      </m:e>
                      <m:sub>
                        <m:r>
                          <a:rPr lang="en-US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  <m:r>
                      <a:rPr lang="en-US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func>
                      <m:funcPr>
                        <m:ctrlPr>
                          <a:rPr lang="en-US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func>
                      <m:funcPr>
                        <m:ctrlPr>
                          <a:rPr lang="en-US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kern="100" dirty="0">
                  <a:latin typeface="Calibri" panose="020F050202020403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When you multiply the full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3×3</m:t>
                    </m:r>
                  </m:oMath>
                </a14:m>
                <a:r>
                  <a:rPr lang="en-US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rotation matrix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𝑅</m:t>
                    </m:r>
                    <m:d>
                      <m:d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by an initial position vector on the x-axis,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nl-BE" b="0" i="0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initial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, </a:t>
                </a: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it extracts the first column of the matrix. </a:t>
                </a:r>
                <a:r>
                  <a:rPr lang="en-US" kern="100" dirty="0"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Here is </a:t>
                </a:r>
                <a:r>
                  <a:rPr lang="en-US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mathematically exact, full vector coordinate equation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𝑦</m:t>
                    </m:r>
                    <m:d>
                      <m:d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𝑧</m:t>
                    </m:r>
                    <m:d>
                      <m:d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Segoe UI Emoji" panose="020B0502040204020203" pitchFamily="34" charset="0"/>
                    <a:ea typeface="Aptos" panose="020B0004020202020204" pitchFamily="34" charset="0"/>
                    <a:cs typeface="Segoe UI Emoji" panose="020B0502040204020203" pitchFamily="34" charset="0"/>
                  </a:rPr>
                  <a:t>🧮</a:t>
                </a:r>
                <a:r>
                  <a:rPr lang="en-US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The Complete Matrix Projection Vector Equations</a:t>
                </a:r>
                <a:endParaRPr lang="en-US" kern="100" dirty="0">
                  <a:effectLst/>
                  <a:latin typeface="Calibri" panose="020F050202020403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/>
                  <a:t>By substituting the time-dependent quaternion components and using trigonometric identities, the individual Cartesian coordinates emerge explicitly as a true vector set: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/>
                          </m:ctrlPr>
                        </m:accPr>
                        <m:e>
                          <m:r>
                            <a:rPr lang="en-US" i="1"/>
                            <m:t>𝑟</m:t>
                          </m:r>
                        </m:e>
                      </m:acc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  <m:r>
                        <a:rPr lang="en-US" i="1"/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/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/>
                              </m:ctrlPr>
                            </m:mPr>
                            <m:mr>
                              <m:e>
                                <m:r>
                                  <a:rPr lang="en-US" i="1"/>
                                  <m:t>𝑥</m:t>
                                </m:r>
                                <m:d>
                                  <m:dPr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𝑡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i="1"/>
                                  <m:t>𝑦</m:t>
                                </m:r>
                                <m:d>
                                  <m:dPr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𝑡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i="1"/>
                                  <m:t>𝑧</m:t>
                                </m:r>
                                <m:d>
                                  <m:dPr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𝑡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i="1"/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/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/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i="1"/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/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/>
                                        </m:ctrlPr>
                                      </m:dPr>
                                      <m:e>
                                        <m:r>
                                          <a:rPr lang="en-US" i="1"/>
                                          <m:t>2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/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/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US" i="1"/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i="1"/>
                                          <m:t>𝑡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i="1"/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/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/>
                                        </m:ctrlPr>
                                      </m:dPr>
                                      <m:e>
                                        <m:r>
                                          <a:rPr lang="en-US" i="1"/>
                                          <m:t>2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/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/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US" i="1"/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i="1"/>
                                          <m:t>𝑡</m:t>
                                        </m:r>
                                      </m:e>
                                    </m:d>
                                  </m:e>
                                </m:func>
                                <m:func>
                                  <m:funcPr>
                                    <m:ctrlPr>
                                      <a:rPr lang="en-US" i="1"/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/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/>
                                        </m:ctrlPr>
                                      </m:dPr>
                                      <m:e>
                                        <m:r>
                                          <a:rPr lang="en-US" i="1"/>
                                          <m:t>2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/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/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US" i="1"/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i="1"/>
                                          <m:t>𝑡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i="1"/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i="1"/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/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/>
                                        </m:ctrlPr>
                                      </m:dPr>
                                      <m:e>
                                        <m:r>
                                          <a:rPr lang="en-US" i="1"/>
                                          <m:t>2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/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/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US" i="1"/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i="1"/>
                                          <m:t>𝑡</m:t>
                                        </m:r>
                                      </m:e>
                                    </m:d>
                                  </m:e>
                                </m:func>
                                <m:func>
                                  <m:funcPr>
                                    <m:ctrlPr>
                                      <a:rPr lang="en-US" i="1"/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/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/>
                                        </m:ctrlPr>
                                      </m:dPr>
                                      <m:e>
                                        <m:r>
                                          <a:rPr lang="en-US" i="1"/>
                                          <m:t>2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/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/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US" i="1"/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i="1"/>
                                          <m:t>𝑡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endParaRPr lang="en-US" kern="100" dirty="0">
                  <a:effectLst/>
                  <a:latin typeface="Calibri" panose="020F050202020403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770079-09E3-0E6E-6738-0BF456C22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25057"/>
                <a:ext cx="12191999" cy="5832943"/>
              </a:xfrm>
              <a:prstGeom prst="rect">
                <a:avLst/>
              </a:prstGeom>
              <a:blipFill>
                <a:blip r:embed="rId2"/>
                <a:stretch>
                  <a:fillRect l="-400" t="-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341C4B7-B60D-368A-3185-0BE24C2B6A2A}"/>
              </a:ext>
            </a:extLst>
          </p:cNvPr>
          <p:cNvSpPr txBox="1"/>
          <p:nvPr/>
        </p:nvSpPr>
        <p:spPr>
          <a:xfrm>
            <a:off x="2240392" y="330812"/>
            <a:ext cx="7711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From Quaternion Math back to Cartesian Math (slide 2)</a:t>
            </a:r>
            <a:endParaRPr lang="en-US" sz="2400" b="1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769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25A5C4-FE43-8A8A-87C1-C3BBED096A82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68254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solidFill>
                      <a:schemeClr val="tx2"/>
                    </a:solidFill>
                    <a:effectLst/>
                    <a:latin typeface="Segoe UI Emoji" panose="020B0502040204020203" pitchFamily="34" charset="0"/>
                    <a:ea typeface="Aptos" panose="020B0004020202020204" pitchFamily="34" charset="0"/>
                    <a:cs typeface="Segoe UI Emoji" panose="020B0502040204020203" pitchFamily="34" charset="0"/>
                  </a:rPr>
                  <a:t>📐</a:t>
                </a:r>
                <a:r>
                  <a:rPr lang="en-US" sz="2400" b="1" kern="100" dirty="0">
                    <a:solidFill>
                      <a:schemeClr val="tx2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The Kinematic Origins of the Geometric Factors</a:t>
                </a: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1. The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Factors (Rotational Vectors)</a:t>
                </a:r>
                <a:endParaRPr lang="en-US" sz="1800" kern="100" dirty="0">
                  <a:effectLst/>
                  <a:latin typeface="Calibri" panose="020F050202020403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14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Origin</a:t>
                </a:r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 Vector addition of orthogonal axes.</a:t>
                </a:r>
              </a:p>
              <a:p>
                <a:pPr marL="342900" marR="0" lvl="0" indent="-342900"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14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3D Geometry</a:t>
                </a:r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 The 3D phase-compensated flow requires simultaneously superimposing a polar rotation (</a:t>
                </a:r>
                <a14:m>
                  <m:oMath xmlns:m="http://schemas.openxmlformats.org/officeDocument/2006/math"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𝜃</m:t>
                    </m:r>
                  </m:oMath>
                </a14:m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 and an azimuthal circulation (</a:t>
                </a:r>
                <a14:m>
                  <m:oMath xmlns:m="http://schemas.openxmlformats.org/officeDocument/2006/math"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𝜙</m:t>
                    </m:r>
                  </m:oMath>
                </a14:m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 marL="342900" marR="0" lvl="0" indent="-342900"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14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Result</a:t>
                </a:r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 Combining two orthogonal rotational modes yields a vector magnitude of </a:t>
                </a:r>
                <a14:m>
                  <m:oMath xmlns:m="http://schemas.openxmlformats.org/officeDocument/2006/math"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|</m:t>
                    </m:r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𝑗</m:t>
                    </m:r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|=</m:t>
                    </m:r>
                    <m:rad>
                      <m:radPr>
                        <m:degHide m:val="on"/>
                        <m:ctrlP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marR="0" lvl="0" indent="-342900"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14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14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Connection</a:t>
                </a:r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 Transitioning from a flat planar projection to a full spherical circulation introduces a geometric factor of </a:t>
                </a:r>
                <a14:m>
                  <m:oMath xmlns:m="http://schemas.openxmlformats.org/officeDocument/2006/math"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4</m:t>
                    </m:r>
                  </m:oMath>
                </a14:m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 This scales the baseline nuclear magneton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b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 to the proton magnetic moment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b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</m:rad>
                    <m:sSub>
                      <m:sSubPr>
                        <m:ctrlP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b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2. The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3</m:t>
                    </m:r>
                  </m:oMath>
                </a14:m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Factors (Space Dimensionality)</a:t>
                </a:r>
                <a:endParaRPr lang="en-US" sz="1800" kern="100" dirty="0">
                  <a:effectLst/>
                  <a:latin typeface="Calibri" panose="020F050202020403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>
                  <a:spcAft>
                    <a:spcPts val="6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14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Origin</a:t>
                </a:r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 Spatial degrees of freedom.</a:t>
                </a:r>
              </a:p>
              <a:p>
                <a:pPr marL="342900" marR="0" lvl="0" indent="-342900">
                  <a:spcAft>
                    <a:spcPts val="6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14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3D Geometry</a:t>
                </a:r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 In a 3D phase-compensated trajectory, velocity is distributed across three spatial dimensions.</a:t>
                </a:r>
              </a:p>
              <a:p>
                <a:pPr marL="342900" marR="0" lvl="0" indent="-342900">
                  <a:spcAft>
                    <a:spcPts val="6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14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Result</a:t>
                </a:r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 The squared velocity expands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p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=3</m:t>
                    </m:r>
                    <m:sSup>
                      <m:sSupPr>
                        <m:ctrlP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p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𝜔</m:t>
                        </m:r>
                      </m:e>
                      <m:sup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marR="0" lvl="0" indent="-342900">
                  <a:spcAft>
                    <a:spcPts val="6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14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sz="14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Connection</a:t>
                </a:r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 Enforcing the RealQM constraint that the local charge velocity must strictly equal the speed of light (</a:t>
                </a:r>
                <a14:m>
                  <m:oMath xmlns:m="http://schemas.openxmlformats.org/officeDocument/2006/math"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𝑣</m:t>
                    </m:r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𝑐</m:t>
                    </m:r>
                  </m:oMath>
                </a14:m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 requires the internal clock frequency to slow down by the dimension factor: </a:t>
                </a:r>
                <a14:m>
                  <m:oMath xmlns:m="http://schemas.openxmlformats.org/officeDocument/2006/math"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𝜔</m:t>
                    </m:r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𝑐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4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4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3</m:t>
                            </m:r>
                          </m:e>
                        </m:rad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3. The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4</m:t>
                    </m:r>
                  </m:oMath>
                </a14:m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1/4</m:t>
                    </m:r>
                  </m:oMath>
                </a14:m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Factors (Radius Scaling)</a:t>
                </a:r>
                <a:endParaRPr lang="en-US" sz="1800" kern="100" dirty="0">
                  <a:effectLst/>
                  <a:latin typeface="Calibri" panose="020F050202020403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14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Origin</a:t>
                </a:r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 Spherical structural scaling.</a:t>
                </a:r>
              </a:p>
              <a:p>
                <a:pPr marL="342900" marR="0" lvl="0" indent="-342900"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14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3D Geometry</a:t>
                </a:r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 When a 2D current loop expands into a 3D shell, the distribution of self-energy over a volume alters the effective radius.</a:t>
                </a:r>
              </a:p>
              <a:p>
                <a:pPr marL="342900" marR="0" lvl="0" indent="-342900"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14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Result</a:t>
                </a:r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 The proton radius shifts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4ℏ</m:t>
                        </m:r>
                      </m:num>
                      <m:den>
                        <m:sSub>
                          <m:sSubPr>
                            <m:ctrlPr>
                              <a:rPr lang="en-US" sz="14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4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14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marR="0" lvl="0" indent="-342900"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14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1/4</m:t>
                    </m:r>
                  </m:oMath>
                </a14:m>
                <a:r>
                  <a:rPr lang="en-US" sz="14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Connection</a:t>
                </a:r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 This inverse scaling leaves the single-shell potential energy profile at exactly </a:t>
                </a:r>
                <a14:m>
                  <m:oMath xmlns:m="http://schemas.openxmlformats.org/officeDocument/2006/math"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𝐸</m:t>
                    </m:r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4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14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𝑝</m:t>
                            </m:r>
                          </m:sub>
                        </m:sSub>
                        <m:sSup>
                          <m:sSupPr>
                            <m:ctrlPr>
                              <a:rPr lang="en-US" sz="14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4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14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before accounting for the accompanying fields.</a:t>
                </a: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4. The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1/2</m:t>
                    </m:r>
                  </m:oMath>
                </a14:m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Factor (Fermionic Equipartition)</a:t>
                </a:r>
                <a:endParaRPr lang="en-US" sz="1800" kern="100" dirty="0">
                  <a:effectLst/>
                  <a:latin typeface="Calibri" panose="020F050202020403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14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Origin</a:t>
                </a:r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 Energy and action sharing.</a:t>
                </a:r>
              </a:p>
              <a:p>
                <a:pPr marL="342900" marR="0" lvl="0" indent="-342900"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14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3D Geometry</a:t>
                </a:r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 Balance between potential field stress and kinetic circulation energy.</a:t>
                </a:r>
              </a:p>
              <a:p>
                <a:pPr marL="342900" marR="0" lvl="0" indent="-342900"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1400" b="1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Result</a:t>
                </a:r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 The total rest mass energy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𝑚</m:t>
                        </m:r>
                      </m:e>
                      <m:sub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  <m:sSup>
                      <m:sSupPr>
                        <m:ctrlP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𝑐</m:t>
                        </m:r>
                      </m:e>
                      <m:sup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 splits evenly: </a:t>
                </a:r>
                <a14:m>
                  <m:oMath xmlns:m="http://schemas.openxmlformats.org/officeDocument/2006/math"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1/2</m:t>
                    </m:r>
                  </m:oMath>
                </a14:m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kinetic energy and </a:t>
                </a:r>
                <a14:m>
                  <m:oMath xmlns:m="http://schemas.openxmlformats.org/officeDocument/2006/math"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1/2</m:t>
                    </m:r>
                  </m:oMath>
                </a14:m>
                <a:r>
                  <a:rPr lang="en-US" sz="1400" kern="100" dirty="0"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electromagnetic field energy.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25A5C4-FE43-8A8A-87C1-C3BBED096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6825458"/>
              </a:xfrm>
              <a:prstGeom prst="rect">
                <a:avLst/>
              </a:prstGeom>
              <a:blipFill>
                <a:blip r:embed="rId2"/>
                <a:stretch>
                  <a:fillRect l="-750" t="-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1116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987091-D7E3-641B-D83C-94CD0732F100}"/>
              </a:ext>
            </a:extLst>
          </p:cNvPr>
          <p:cNvSpPr txBox="1"/>
          <p:nvPr/>
        </p:nvSpPr>
        <p:spPr>
          <a:xfrm>
            <a:off x="827567" y="383609"/>
            <a:ext cx="10536865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b="1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Genesis of Binding: Coaxial Phase-Locking in the Deuteron and Triton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BD63CF-6640-0033-13E6-E031DB799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37605" y="1419447"/>
            <a:ext cx="7954791" cy="38531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4C9B12-E303-C62D-A4FB-AB00297DDC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186" y="1419447"/>
            <a:ext cx="7954791" cy="38531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501CEF-A05E-4977-33C7-5841B26F6F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015" y="1887527"/>
            <a:ext cx="4251968" cy="291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496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F1AF47-AE98-4034-BD91-1976FA4D9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C0EE2B-2029-48DD-893D-F528E651B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5AE1D08-1ED1-4F59-B42F-4D8EA33DC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79B912-88EA-4640-BDEB-51B3B11A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46788D-D515-434B-CA34-2846E028C520}"/>
              </a:ext>
            </a:extLst>
          </p:cNvPr>
          <p:cNvSpPr txBox="1"/>
          <p:nvPr/>
        </p:nvSpPr>
        <p:spPr>
          <a:xfrm>
            <a:off x="659546" y="3527273"/>
            <a:ext cx="3041803" cy="29078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R="0" lvl="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Tailored Symmetries: </a:t>
            </a:r>
          </a:p>
          <a:p>
            <a:pPr marR="0" lvl="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From Alpha Particles to Carbon and Oxygen Nucleon Clusters</a:t>
            </a:r>
            <a:endParaRPr lang="en-US" sz="2800" b="1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E5463D-74BC-2191-D6B7-3C2F64BE0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291" y="124669"/>
            <a:ext cx="6368577" cy="30887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0D5EDC-F161-9A93-B1F1-7D533A41FB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3" y="3338099"/>
            <a:ext cx="7275013" cy="35283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D22945-3798-F1EB-FA7F-396A193E95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457" y="124669"/>
            <a:ext cx="6532509" cy="316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838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E80B9-9F3B-A288-3D62-502D2DDFC775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RealQM Nuclear Engine V3: Variational Optimization Pipeline</a:t>
            </a:r>
            <a:endParaRPr lang="en-US" sz="3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718BE6-612C-CBB5-320D-DE29959BC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5" y="1578429"/>
            <a:ext cx="10885709" cy="527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566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4BF32D-B5ED-CDB6-1CBE-6332163F5E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5662"/>
            <a:ext cx="4423137" cy="28411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AE9378-A14E-83BB-C1FA-8F51E5759C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376" y="800220"/>
            <a:ext cx="7422624" cy="56932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E4A90E-F9BF-D519-E256-5C45F2A95BFE}"/>
              </a:ext>
            </a:extLst>
          </p:cNvPr>
          <p:cNvSpPr txBox="1"/>
          <p:nvPr/>
        </p:nvSpPr>
        <p:spPr>
          <a:xfrm>
            <a:off x="0" y="220842"/>
            <a:ext cx="12191999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Mapping the Electrodynamic Landscape: The Emergent Valley of Stability vs. Empirical Reality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D024C9-CB5C-C86C-E716-6B7ADE243D25}"/>
                  </a:ext>
                </a:extLst>
              </p:cNvPr>
              <p:cNvSpPr txBox="1"/>
              <p:nvPr/>
            </p:nvSpPr>
            <p:spPr>
              <a:xfrm>
                <a:off x="0" y="3949511"/>
                <a:ext cx="4769376" cy="29084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Qualitative Triumph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The scanner naturally generates a structured stability valley along the </a:t>
                </a:r>
                <a14:m>
                  <m:oMath xmlns:m="http://schemas.openxmlformats.org/officeDocument/2006/math">
                    <m:r>
                      <a:rPr lang="en-US" sz="1400" i="1"/>
                      <m:t>𝑁</m:t>
                    </m:r>
                    <m:r>
                      <a:rPr lang="en-US" sz="1400" i="1"/>
                      <m:t>≈</m:t>
                    </m:r>
                    <m:r>
                      <a:rPr lang="en-US" sz="1400" i="1"/>
                      <m:t>𝑍</m:t>
                    </m:r>
                  </m:oMath>
                </a14:m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line without manual guidance.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High Sensitivity (94.7% Recall)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The blind engine successfully identifies 18 out of 19 experimentally stable isotopes in the scan window.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en-US" sz="14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Overbinding</a:t>
                </a:r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Challenge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Heavy, neutron-rich nuclei exhibit deep red </a:t>
                </a:r>
                <a:r>
                  <a:rPr lang="en-US" sz="1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overbound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zones, revealing a clear quantitative error trend.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Open-Science Blueprint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Code and datasets are fully open-source and reproducible on GitHub (</a:t>
                </a:r>
                <a:r>
                  <a:rPr lang="en-US" sz="1400" u="sng" dirty="0">
                    <a:latin typeface="Calibri" panose="020F0502020204030204" pitchFamily="34" charset="0"/>
                    <a:cs typeface="Calibri" panose="020F0502020204030204" pitchFamily="34" charset="0"/>
                    <a:hlinkClick r:id="rId4"/>
                  </a:rPr>
                  <a:t>https://github.com/jeanlouisvanbelle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D024C9-CB5C-C86C-E716-6B7ADE243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949511"/>
                <a:ext cx="4769376" cy="2908489"/>
              </a:xfrm>
              <a:prstGeom prst="rect">
                <a:avLst/>
              </a:prstGeom>
              <a:blipFill>
                <a:blip r:embed="rId5"/>
                <a:stretch>
                  <a:fillRect l="-384" t="-419" r="-512" b="-1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9914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1259</Words>
  <Application>Microsoft Office PowerPoint</Application>
  <PresentationFormat>Widescreen</PresentationFormat>
  <Paragraphs>76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Cambria Math</vt:lpstr>
      <vt:lpstr>Segoe UI Emoji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 Louis Van Belle</dc:creator>
  <cp:lastModifiedBy>Jean Louis Van Belle</cp:lastModifiedBy>
  <cp:revision>18</cp:revision>
  <dcterms:created xsi:type="dcterms:W3CDTF">2026-07-02T11:28:14Z</dcterms:created>
  <dcterms:modified xsi:type="dcterms:W3CDTF">2026-07-02T15:23:49Z</dcterms:modified>
</cp:coreProperties>
</file>